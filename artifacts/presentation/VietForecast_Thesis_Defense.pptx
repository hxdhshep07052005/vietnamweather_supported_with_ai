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respected members of the Defense Committee, professors, and faculty members of the Department of Information and Communication Technology at USTH.</a:t>
            </a:r>
          </a:p>
          <a:p/>
          <a:p>
            <a:r>
              <a:t>My name is Dang Dinh Hoa, majoring in Data Science. Today, I am honored to present my graduation thesis entitled: 'Intelligent Weather-Aware Travel Assistant for Vietnam Integrating AI' (VietForecast), supervised by MSc. Vu Ha My and Dr. Nghiem Thi Phuong.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 extends over 1,650 km North-to-South with diverse microclimates: Northern cold mountain fog, Central coastal typhoons and crosswinds, and Southern sudden flash cloudbursts. A commuter leaving Hanoi in clear weather can face zero-visibility fog in Yen Bai within 2 hours and severe storms in Lao Cai by evening.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Unlike automobile drivers protected by enclosed cabins, Vietnam's 72+ million motorcycle riders bear direct physical exposure to weather hazards. Wind gusts on bridges generate lateral overturning torque, while hydroplaning over water films dramatically increases stopping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software creates an impossible trade-off: Google Maps offers turn-by-turn routing but is completely blind to weather; Windy offers rich weather data but in complete isolation from driving routes. VietForecast bridges this gap by incorporating spatial weather into route computation.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1.1 in Chapter 1 highlights the critical shortcomings across existing platforms: turn-by-turn navigation is weather-blind; weather radars are route-blind; and generic LLMs hallucinate weather without real telemetry grounding. VietForecast achieves 'Yes' across all 6 key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mathematical problem statement computes candidate paths P = {P_fastest, P_shortest, P_safer} between Origin O and Destination D. P_safer detours around the danger zone to minimize cumulative risk while bounding duration extension. This motivates 3 research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 formalizes 3 system actors (Guest User, Authenticated Commuter, Administrator) across 8 core use cases. Guest users explore live maps and route safety without login; commuters manage favorite paths and vehicle profiles; administrators monitor worker telemetry and broadcast storm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relational schema in PostGIS 3.4 spans 4 authoritative domains: administrative units (MultiPolygon 4326), weather time-series (Point 4326 with SHA-256 checksums), maker-checker risk rulesets, and spatial route requests with immutable security audit trails.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C4 container model partitions the platform into 3 tiers: Edge Nginx proxy serving React 18 3D WebGL maps; Application Fastify 5 BFF and background Integration Worker; and Data Tier where PostgreSQL and Redis are marked internal: true with zero public port exposure.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 ADR-004, the browser never receives Directus JWTs. Instead, it gets an opaque 32-byte cookie (HttpOnly, SameSite=Strict). Real tokens are encrypted on the server with AES-256-GCM. Replay of an expired rotated token immediately triggers family revocation.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 ADR-001, meteorological ingestion runs in an isolated worker process. Distributed database leasing prevents multi-replica race conditions. A 3-state circuit breaker protects system quotas during third-party failures, while SHA-256 checksums cut write I/O by over 70%.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GiST, querying stations along a route computes trigonometry against every station in Vietnam, costing 420 ms. With GiST, Tier 1 bounding box eliminates over 98.5% of stations in under 1 ms, leaving Tier 2 to compute exact distances for local candidates in 11.4 ms (36.9x speedup).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risk engine evaluates 6 physical dimensions aligned with WMO-No. 8 standards. It enforces Max-Severity aggregation so that a single extreme hazard triggers proper caution. Motorcycle thresholds are tightened by over 30%, while stale data defaults safely to Unknown.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routing algorithm samples path geometry at 5 km / 15 min checkpoints, calculating arrival ETA to match localized forecast windows. A Pareto objective function balances 50% Atmospheric Risk, 30% Travel Duration, and 20%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the 3 real-world route options rendered on our WebGL Map on the Hanoi — Lao Cai corridor: Fastest on CT05 (R = 0.68) cuts through storm cells; Shortest on QL70 (R = 0.42) has mountain pass fog; Weather-Safer (R = 0.14) detours around storm cells and eliminates 100% of extreme hazards.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conversational assistant, Google Gemini 1.5 Flash is strictly constrained as a tool orchestrator equipped with 5 JSON-schema tools. Every response requires empirical citations including Station IDs and telemetry timestamps. An internal deterministic fallback engine responds in 2.2 ms even during cloud dropouts.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live case study, the user asks for travel advice departing Hanoi at 14:00 by car to Sa Pa with a 1.5-hour dinner stop in Phu Tho and night pass driving. The assistant automatically chains route evaluation, forecast lookups, and risk assessment, advising fog lights on Bao Ha pass after 21:30 and citing verified stations.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Hanoi — Lao Cai, Weather-Safer drops risk from 0.68 to 0.14, eliminating 100% of storm points with only an 11.1% time trade-off. Across all tested corridors, the algorithm reduces high-risk checkpoints by 87.2% with an average time penalty of only 8.9% and distance increase of 4.7%.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 concurrent load testing with 1,000 Virtual Users, Fastify achieves 2,485 req/s with a 0.0% error rate and p95 latency of 12.8 ms. The Redis cache hit ratio reaches 92.4%. Primary worker kill simulations confirm automated failover within 120 seconds with zero split-brain.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across 500 tiered prompts shows 96.2% tool dispatch accuracy and 97.2% verified station citations. Factual hallucination dropped from 34.6% in vanilla LLMs to 1.8% (a 94.8% reduction). All residual deviations were conversational tone embellishments.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Usability testing with 30 target participants following John Brooke's SUS standard yielded an average score of 84.6 (Grade A, Excellent). Rapid learnability (4.60/5) and frequent usage intent (4.53/5) scored exceptionally high.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candidly acknowledge current limitations: sparse station coverage in remote mountainous zones, lack of real-time road closure feeds from the Highway Administration, and offline routing constraints. Our research roadmap outlines: Native mobile apps with voice navigation (Short-term); on-device SLMs and camera vision flood depth analysis (Medium-term); and multimodal railway/aviation integration (Long-term).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I would like to summarize the thesis through an objective engineering balance of its core strengths and operational boundaries: On the PROS side, VietForecast proves an 87.2% hazard reduction on real highway corridors, calibrates safety specifically for two-wheelers, achieves sub-15ms spatial queries via GiST (36.9x speedup), prunes AI hallucinations by 94.8%, and satisfies 100% of 210 automated test suites. On the CONS side, we candidly acknowledge our boundaries: station sparsity in the Northwest highlands, lack of real-time Highway Administration landslide feeds, cloud round-trip latency on the LLM, and the need for active connectivity during dynamic rerouting. This clear self-awareness directly justifies our future roadmap and confirms the system's readiness for real-world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very much, distinguished members of the Committee, for your kind attention! I would like to initiate the live demonstration of the platform and welcome your questions and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01 / 24</a:t>
            </a:r>
          </a:p>
        </p:txBody>
      </p:sp>
      <p:pic>
        <p:nvPicPr>
          <p:cNvPr id="4" name="Picture 3" descr="u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731520"/>
            <a:ext cx="219456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031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UNIVERSITY OF SCIENCE AND TECHNOLOGY OF HANOI (USTH)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DEPARTMENT OF INFORMATION AND COMMUNICATION TECHNOLOGY</a:t>
            </a:r>
          </a:p>
          <a:p>
            <a:pPr algn="ctr">
              <a:spcBef>
                <a:spcPts val="2000"/>
              </a:spcBef>
              <a:defRPr sz="2800" b="1">
                <a:solidFill>
                  <a:srgbClr val="F8FAFC"/>
                </a:solidFill>
                <a:latin typeface="Arial"/>
              </a:defRPr>
            </a:pPr>
            <a:r>
              <a:t>INTELLIGENT WEATHER-AWARE TRAVEL ASSISTANT</a:t>
            </a:r>
            <a:br/>
            <a:r>
              <a:t>FOR VIETNAM INTEGRATING AI</a:t>
            </a:r>
          </a:p>
          <a:p>
            <a:pPr algn="ctr">
              <a:spcBef>
                <a:spcPts val="1000"/>
              </a:spcBef>
              <a:defRPr sz="1400">
                <a:solidFill>
                  <a:srgbClr val="38BDF8"/>
                </a:solidFill>
                <a:latin typeface="Consolas"/>
              </a:defRPr>
            </a:pPr>
            <a:r>
              <a:t>VietForecast — Multimodal Hazard Synthesis, Spatial Routing &amp; Grounded LLM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663440"/>
            <a:ext cx="8165592" cy="12801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/>
          <a:lstStyle/>
          <a:p>
            <a:pPr algn="ctr"/>
            <a:r>
              <a:rPr sz="1000" b="1">
                <a:solidFill>
                  <a:srgbClr val="64748B"/>
                </a:solidFill>
              </a:rPr>
              <a:t>CANDIDATE: </a:t>
            </a:r>
            <a:r>
              <a:rPr sz="1200" b="1">
                <a:solidFill>
                  <a:srgbClr val="F8FAFC"/>
                </a:solidFill>
              </a:rPr>
              <a:t>ĐẶNG ĐÌNH HÒA  (ID: 23BI14169)  •  Major: Data Science
</a:t>
            </a:r>
            <a:r>
              <a:rPr sz="1000" b="1">
                <a:solidFill>
                  <a:srgbClr val="64748B"/>
                </a:solidFill>
              </a:rPr>
              <a:t>SUPERVISORS: </a:t>
            </a:r>
            <a:r>
              <a:rPr sz="1200" b="1">
                <a:solidFill>
                  <a:srgbClr val="F8FAFC"/>
                </a:solidFill>
              </a:rPr>
              <a:t>MSc. Vũ Hà My (External)   |   Dr. Nghiêm Thị Phương (Internal)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035040"/>
            <a:ext cx="4873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Consolas"/>
              </a:defRPr>
            </a:pPr>
            <a:r>
              <a:t>Hanoi,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02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01 • BACKGROUND &amp; PRACTICAL MOTIVATION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Geography &amp; Climate Disparity Across Vietnam's 1,650 km Spine</a:t>
            </a:r>
          </a:p>
        </p:txBody>
      </p:sp>
      <p:pic>
        <p:nvPicPr>
          <p:cNvPr id="5" name="Picture 4" descr="vietnam_political_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2760453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1645920"/>
            <a:ext cx="6309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 b="1">
                <a:solidFill>
                  <a:srgbClr val="F8FAFC"/>
                </a:solidFill>
              </a:defRPr>
            </a:pPr>
            <a:r>
              <a:t>Vietnam spans 1,650 km North-to-South with 3,260 km of coastline, creating severe microclimate variations across distinct zones:</a:t>
            </a:r>
          </a:p>
          <a:p>
            <a:pPr>
              <a:spcBef>
                <a:spcPts val="1600"/>
              </a:spcBef>
            </a:pPr>
            <a:r>
              <a:rPr b="1" sz="1300">
                <a:solidFill>
                  <a:srgbClr val="F8FAFC"/>
                </a:solidFill>
              </a:rPr>
              <a:t>• Northern Highlands &amp; Mountain Passes: </a:t>
            </a:r>
            <a:r>
              <a:rPr sz="1300">
                <a:solidFill>
                  <a:srgbClr val="94A3B8"/>
                </a:solidFill>
              </a:rPr>
              <a:t>Freezing winter cold, dense mountain pass fog, frost, and high landslide risks (Sa Pa, O Quy Ho, Pha Din).</a:t>
            </a:r>
          </a:p>
          <a:p>
            <a:pPr>
              <a:spcBef>
                <a:spcPts val="1600"/>
              </a:spcBef>
            </a:pPr>
            <a:r>
              <a:rPr b="1" sz="1300">
                <a:solidFill>
                  <a:srgbClr val="F8FAFC"/>
                </a:solidFill>
              </a:rPr>
              <a:t>• Central Coast &amp; Mountain Passes: </a:t>
            </a:r>
            <a:r>
              <a:rPr sz="1300">
                <a:solidFill>
                  <a:srgbClr val="94A3B8"/>
                </a:solidFill>
              </a:rPr>
              <a:t>High-frequency tropical typhoons, torrential localized rains, and gale-force crosswinds over coastal bridges (Hai Van Pass).</a:t>
            </a:r>
          </a:p>
          <a:p>
            <a:pPr>
              <a:spcBef>
                <a:spcPts val="1600"/>
              </a:spcBef>
            </a:pPr>
            <a:r>
              <a:rPr b="1" sz="1300">
                <a:solidFill>
                  <a:srgbClr val="F8FAFC"/>
                </a:solidFill>
              </a:rPr>
              <a:t>• Southern Delta &amp; Urban Centers: </a:t>
            </a:r>
            <a:r>
              <a:rPr sz="1300">
                <a:solidFill>
                  <a:srgbClr val="94A3B8"/>
                </a:solidFill>
              </a:rPr>
              <a:t>Sudden tropical convective cloudbursts causing severe urban and tidal inundation (Ho Chi Minh City, Mekong Delta).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5303520"/>
            <a:ext cx="630936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b="1" sz="1100">
                <a:solidFill>
                  <a:srgbClr val="F8FAFC"/>
                </a:solidFill>
              </a:rPr>
              <a:t>Notice: </a:t>
            </a:r>
            <a:r>
              <a:rPr b="1" sz="1100">
                <a:solidFill>
                  <a:srgbClr val="F8FAFC"/>
                </a:solidFill>
              </a:rPr>
              <a:t>1,650 km North-to-South spine across 3 divergent climate zones.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03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01 • BACKGROUND &amp; PRACTICAL MOTIVATION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Two-Wheeler Commuting Culture &amp; Physical Vulnerability</a:t>
            </a:r>
          </a:p>
        </p:txBody>
      </p:sp>
      <p:pic>
        <p:nvPicPr>
          <p:cNvPr id="5" name="Picture 4" descr="vietnam_motorcyclists_c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2468880" cy="4114800"/>
          </a:xfrm>
          <a:prstGeom prst="rect">
            <a:avLst/>
          </a:prstGeom>
        </p:spPr>
      </p:pic>
      <p:pic>
        <p:nvPicPr>
          <p:cNvPr id="6" name="Picture 5" descr="vietnam_driving_traff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645920"/>
            <a:ext cx="246888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64592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Vietnam's transport sector is fundamentally distinct from Western automobile-dominated traffic:</a:t>
            </a:r>
          </a:p>
          <a:p>
            <a:pPr>
              <a:spcBef>
                <a:spcPts val="1200"/>
              </a:spcBef>
            </a:pPr>
            <a:r>
              <a:rPr b="1" sz="1250">
                <a:solidFill>
                  <a:srgbClr val="F8FAFC"/>
                </a:solidFill>
              </a:rPr>
              <a:t>• &gt; 72 Million Registered Motorcycles: </a:t>
            </a:r>
            <a:r>
              <a:rPr sz="1250">
                <a:solidFill>
                  <a:srgbClr val="94A3B8"/>
                </a:solidFill>
              </a:rPr>
              <a:t>Constitutes upwards of 85% of active personal trips across Vietnam.</a:t>
            </a:r>
          </a:p>
          <a:p>
            <a:pPr>
              <a:spcBef>
                <a:spcPts val="1200"/>
              </a:spcBef>
            </a:pPr>
            <a:r>
              <a:rPr b="1" sz="1250">
                <a:solidFill>
                  <a:srgbClr val="F8FAFC"/>
                </a:solidFill>
              </a:rPr>
              <a:t>• Zero Protective Cabin: </a:t>
            </a:r>
            <a:r>
              <a:rPr sz="1250">
                <a:solidFill>
                  <a:srgbClr val="94A3B8"/>
                </a:solidFill>
              </a:rPr>
              <a:t>Riders directly absorb the physical impact of tropical downpours and cold winds.</a:t>
            </a:r>
          </a:p>
          <a:p>
            <a:pPr>
              <a:spcBef>
                <a:spcPts val="1200"/>
              </a:spcBef>
            </a:pPr>
            <a:r>
              <a:rPr b="1" sz="1250">
                <a:solidFill>
                  <a:srgbClr val="F8FAFC"/>
                </a:solidFill>
              </a:rPr>
              <a:t>• Aerodynamic Overturning Moments: </a:t>
            </a:r>
            <a:r>
              <a:rPr sz="1250">
                <a:solidFill>
                  <a:srgbClr val="94A3B8"/>
                </a:solidFill>
              </a:rPr>
              <a:t>Lateral wind gusts exceeding 40 km/h threaten vehicle stability across coastal bridges and passes.</a:t>
            </a:r>
          </a:p>
          <a:p>
            <a:pPr>
              <a:spcBef>
                <a:spcPts val="1200"/>
              </a:spcBef>
            </a:pPr>
            <a:r>
              <a:rPr b="1" sz="1250">
                <a:solidFill>
                  <a:srgbClr val="F8FAFC"/>
                </a:solidFill>
              </a:rPr>
              <a:t>• Aquaplaning &amp; Loss of Grip: </a:t>
            </a:r>
            <a:r>
              <a:rPr sz="1250">
                <a:solidFill>
                  <a:srgbClr val="94A3B8"/>
                </a:solidFill>
              </a:rPr>
              <a:t>Water films on asphalt severely degrade tire traction, tripling braking distances.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5303520"/>
            <a:ext cx="539496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b="1" sz="1100">
                <a:solidFill>
                  <a:srgbClr val="F8FAFC"/>
                </a:solidFill>
              </a:rPr>
              <a:t>Notice: </a:t>
            </a:r>
            <a:r>
              <a:rPr b="1" sz="1100">
                <a:solidFill>
                  <a:srgbClr val="F8FAFC"/>
                </a:solidFill>
              </a:rPr>
              <a:t>Routing algorithms must incorporate vehicle-differentiated sensitivity profiles.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04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01 • BACKGROUND &amp; PRACTICAL MOTIVATION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The Navigation Technology Gap: Existing Tools vs. VietForecast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0" t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Google Maps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Turn-by-turn Navigation</a:t>
            </a:r>
            <a:br/>
          </a:p>
          <a:p>
            <a:r>
              <a:rPr b="1">
                <a:solidFill>
                  <a:srgbClr val="4ADE80"/>
                </a:solidFill>
              </a:rPr>
              <a:t>✓ Pros: </a:t>
            </a:r>
            <a:r>
              <a:rPr>
                <a:solidFill>
                  <a:srgbClr val="F8FAFC"/>
                </a:solidFill>
              </a:rPr>
              <a:t>Best routing, live traffic jams, precise ETA.
</a:t>
            </a:r>
            <a:r>
              <a:rPr b="1">
                <a:solidFill>
                  <a:srgbClr val="F87171"/>
                </a:solidFill>
              </a:rPr>
              <a:t>✕ Cons: </a:t>
            </a:r>
            <a:r>
              <a:rPr>
                <a:solidFill>
                  <a:srgbClr val="94A3B8"/>
                </a:solidFill>
              </a:rPr>
              <a:t>Weather-blind; treats atmosphere as neutral; routes into storms.</a:t>
            </a:r>
          </a:p>
        </p:txBody>
      </p:sp>
      <p:pic>
        <p:nvPicPr>
          <p:cNvPr id="6" name="Picture 5" descr="google_ma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" cy="548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0" t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Windy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Global Weather Radar</a:t>
            </a:r>
            <a:br/>
          </a:p>
          <a:p>
            <a:r>
              <a:rPr b="1">
                <a:solidFill>
                  <a:srgbClr val="4ADE80"/>
                </a:solidFill>
              </a:rPr>
              <a:t>✓ Pros: </a:t>
            </a:r>
            <a:r>
              <a:rPr>
                <a:solidFill>
                  <a:srgbClr val="F8FAFC"/>
                </a:solidFill>
              </a:rPr>
              <a:t>Accurate radar, live wind gusts, storm layers.
</a:t>
            </a:r>
            <a:r>
              <a:rPr b="1">
                <a:solidFill>
                  <a:srgbClr val="F87171"/>
                </a:solidFill>
              </a:rPr>
              <a:t>✕ Cons: </a:t>
            </a:r>
            <a:r>
              <a:rPr>
                <a:solidFill>
                  <a:srgbClr val="94A3B8"/>
                </a:solidFill>
              </a:rPr>
              <a:t>Point-based only; zero route integration; cannot trace a trip.</a:t>
            </a:r>
          </a:p>
        </p:txBody>
      </p:sp>
      <p:pic>
        <p:nvPicPr>
          <p:cNvPr id="8" name="Picture 7" descr="wind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1480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645920"/>
            <a:ext cx="5212080" cy="429768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7432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VietForecast: The Missing Solution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Weather-Aware Travel Assistant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4ADE80"/>
                </a:solidFill>
              </a:rPr>
              <a:t>✓ PROS (Key Capabilities):
</a:t>
            </a:r>
          </a:p>
          <a:p>
            <a:r>
              <a:rPr sz="1150">
                <a:solidFill>
                  <a:srgbClr val="F8FAFC"/>
                </a:solidFill>
              </a:rPr>
              <a:t>• Routes around rain, wind, fog &amp; storms along highways.</a:t>
            </a:r>
          </a:p>
          <a:p>
            <a:r>
              <a:rPr sz="1150">
                <a:solidFill>
                  <a:srgbClr val="F8FAFC"/>
                </a:solidFill>
              </a:rPr>
              <a:t>• Predicts hazards dynamically at your exact arrival time (ETA).</a:t>
            </a:r>
          </a:p>
          <a:p>
            <a:r>
              <a:rPr sz="1150">
                <a:solidFill>
                  <a:srgbClr val="F8FAFC"/>
                </a:solidFill>
              </a:rPr>
              <a:t>• Empirically eliminates 87.2% of extreme danger points.</a:t>
            </a:r>
          </a:p>
          <a:p>
            <a:r>
              <a:rPr sz="1150">
                <a:solidFill>
                  <a:srgbClr val="F8FAFC"/>
                </a:solidFill>
              </a:rPr>
              <a:t>• Specifically calibrated for two-wheeler vulnerability.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87171"/>
                </a:solidFill>
              </a:rPr>
              <a:t>✕ CONS (Current Boundaries):
</a:t>
            </a:r>
          </a:p>
          <a:p>
            <a:r>
              <a:rPr sz="1150">
                <a:solidFill>
                  <a:srgbClr val="94A3B8"/>
                </a:solidFill>
              </a:rPr>
              <a:t>• No live satellite cloud radar animation stream like Windy.</a:t>
            </a:r>
          </a:p>
          <a:p>
            <a:r>
              <a:rPr sz="1150">
                <a:solidFill>
                  <a:srgbClr val="94A3B8"/>
                </a:solidFill>
              </a:rPr>
              <a:t>• Requires active internet connectivity for dynamic rerouting.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05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02 • STATE-OF-THE-ART SURVEY &amp; BENCHMARK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Systematic Feature Comparison: Existing Platforms vs. VietForecast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591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2232"/>
                <a:gridCol w="1645920"/>
                <a:gridCol w="1645920"/>
                <a:gridCol w="1645920"/>
                <a:gridCol w="1645920"/>
              </a:tblGrid>
              <a:tr h="58782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Evaluated Capability 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Google Maps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Windy / Weather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Generic LLMs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VietForecast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Turn-by-turn inter-provincial routing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ADE8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ADE8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Real-time verified weather observations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ADE8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ADE8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Weather hazard path evaluation (ETA)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ADE8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Vehicle-specific risk weighting (Bike vs Car)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ADE8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Multi-objective storm avoidance detour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ADE8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Grounded conversational AI assistant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BBF24"/>
                          </a:solidFill>
                          <a:latin typeface="Arial"/>
                        </a:defRPr>
                      </a:pPr>
                      <a:r>
                        <a:t>Depends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ADE8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943600"/>
            <a:ext cx="10725912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b="1" sz="1100">
                <a:solidFill>
                  <a:srgbClr val="F8FAFC"/>
                </a:solidFill>
              </a:rPr>
              <a:t>Notice: </a:t>
            </a:r>
            <a:r>
              <a:rPr b="1" sz="1100">
                <a:solidFill>
                  <a:srgbClr val="F8FAFC"/>
                </a:solidFill>
              </a:rPr>
              <a:t>Comprehensive synthesis across navigation, GIS meteorology, and verifiable 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06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03 • OBJECTIVES &amp; RESEARCH QUESTIONS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Mathematical Problem Statement &amp; 3 Research Questions</a:t>
            </a:r>
          </a:p>
        </p:txBody>
      </p:sp>
      <p:pic>
        <p:nvPicPr>
          <p:cNvPr id="5" name="Picture 4" descr="diagram_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29645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3 Core Research Questions (RQs)</a:t>
            </a:r>
          </a:p>
          <a:p>
            <a:pPr>
              <a:spcBef>
                <a:spcPts val="1400"/>
              </a:spcBef>
            </a:pPr>
            <a:r>
              <a:rPr b="1" sz="1200">
                <a:solidFill>
                  <a:srgbClr val="38BDF8"/>
                </a:solidFill>
              </a:rPr>
              <a:t>RQ1: Spatial Freshness &amp; Normalization
</a:t>
            </a:r>
            <a:r>
              <a:rPr sz="1150">
                <a:solidFill>
                  <a:srgbClr val="94A3B8"/>
                </a:solidFill>
              </a:rPr>
              <a:t>How to ingest, validate, and index heterogeneous meteorological streams across all 63 provinces into PostGIS with sub-second retrieval?</a:t>
            </a:r>
          </a:p>
          <a:p>
            <a:pPr>
              <a:spcBef>
                <a:spcPts val="1400"/>
              </a:spcBef>
            </a:pPr>
            <a:r>
              <a:rPr b="1" sz="1200">
                <a:solidFill>
                  <a:srgbClr val="38BDF8"/>
                </a:solidFill>
              </a:rPr>
              <a:t>RQ2: Multi-Criteria Risk Quantification
</a:t>
            </a:r>
            <a:r>
              <a:rPr sz="1150">
                <a:solidFill>
                  <a:srgbClr val="94A3B8"/>
                </a:solidFill>
              </a:rPr>
              <a:t>How to synthesize 6 physical variables into an objective hazard index that accurately differentiates between motorcycles and passenger cars?</a:t>
            </a:r>
          </a:p>
          <a:p>
            <a:pPr>
              <a:spcBef>
                <a:spcPts val="1400"/>
              </a:spcBef>
            </a:pPr>
            <a:r>
              <a:rPr b="1" sz="1200">
                <a:solidFill>
                  <a:srgbClr val="38BDF8"/>
                </a:solidFill>
              </a:rPr>
              <a:t>RQ3: Grounded Conversational AI Assistant
</a:t>
            </a:r>
            <a:r>
              <a:rPr sz="1150">
                <a:solidFill>
                  <a:srgbClr val="94A3B8"/>
                </a:solidFill>
              </a:rPr>
              <a:t>How to constrain neural language models via structured function calling to eliminate hallucinations and provide verifiable travel advice?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07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04 • REQUIREMENTS &amp; USE CASE HIERARCHY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System Actors &amp; UML 2.5 Use Case Hierarchy</a:t>
            </a:r>
          </a:p>
        </p:txBody>
      </p:sp>
      <p:pic>
        <p:nvPicPr>
          <p:cNvPr id="5" name="Picture 4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554480"/>
            <a:ext cx="649547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08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05 • DATA ARCHITECTURE &amp; SCHEMA DESIGN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PostgreSQL 16 + PostGIS 3.4 Spatial Data Model (ERD)</a:t>
            </a:r>
          </a:p>
        </p:txBody>
      </p:sp>
      <p:pic>
        <p:nvPicPr>
          <p:cNvPr id="5" name="Picture 4" descr="erd_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54480"/>
            <a:ext cx="9445752" cy="49922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09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06 • SYSTEM ARCHITECTURAL DESIGN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3-Tier Containerized Microservices Architecture (C4 Level 2)</a:t>
            </a:r>
          </a:p>
        </p:txBody>
      </p:sp>
      <p:pic>
        <p:nvPicPr>
          <p:cNvPr id="5" name="Picture 4" descr="c4_conta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54480"/>
            <a:ext cx="619420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10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07 • SYSTEM SECURITY &amp; IDENTITY (ADR-004)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Server-Side Session Security Boundary (ADR-004)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39319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1. Browser Client</a:t>
            </a:r>
            <a:br/>
          </a:p>
          <a:p>
            <a:pPr>
              <a:defRPr sz="1100">
                <a:solidFill>
                  <a:srgbClr val="38BDF8"/>
                </a:solidFill>
              </a:defRPr>
            </a:pPr>
            <a:r>
              <a:t>__Host-vnwa_session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32-byte opaque random cookie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HttpOnly: JS cannot access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Secure: HTTPS transport only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SameSite=Strict: Blocks CSRF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Notice: Zero JWT stored in browser storage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39319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2. Fastify 5 BFF Shield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Cryptographic Boundary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SHA-256 Hashing: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session_id_hash = SHA256(handle)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AES-256-GCM Envelope: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Directus JWTs encrypted at rest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Sliding Rotation: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Silent refresh with 60s grace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Family Revocation (Ψ):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Replay revokes all sessions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39319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3. Isolated Services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Internal Docker Network Only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Directus 12.1.1 (Identity SoR):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Argon2id password verification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13 RBAC role policies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Zero public web exposure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PostgreSQL 16 (app_security):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Encrypted token vault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Immutable audit events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Notice: Network internal: true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10725912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b="1" sz="1100">
                <a:solidFill>
                  <a:srgbClr val="F8FAFC"/>
                </a:solidFill>
              </a:rPr>
              <a:t>Security Invariant: </a:t>
            </a:r>
            <a:r>
              <a:rPr b="1" sz="1100">
                <a:solidFill>
                  <a:srgbClr val="F8FAFC"/>
                </a:solidFill>
              </a:rPr>
              <a:t>Compromising client storage yields only an opaque handle, leaving credentials unbreachable.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11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08 • RESILIENT INGESTION ENGINE (ADR-001)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Integration Worker: Fault-Tolerant Ingestion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39319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1. External Weather Feed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WeatherAPI (WMO)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63 Vietnam Provinces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Current &amp; 3-day forecast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Periodic 5-minute polling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API keys strictly in .env.local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Notice: Circuit breaker isolates upstream outages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39319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2. Integration Worker (ADR-001)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Autonomous Runtime Engine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3-State Circuit Breaker: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CLOSED -&gt; OPEN (3 fails) -&gt; HALF-OPEN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WMO Normalization &amp; Checksum: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SHA-256 deduplication cuts I/O &gt;70%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Distributed Database Leasing: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120s lease + 30s heartbeat (zero deadlock)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39319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3. Storage &amp; Cache Tier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PostgreSQL 16 (PostGIS):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weather_observations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weather_forecasts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2D GiST spatial index (&lt;15ms)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Redis 7 (In-Memory):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TTL: 1,800 seconds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92.4% Cache hit ratio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Notice: Network internal: true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10725912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b="1" sz="1100">
                <a:solidFill>
                  <a:srgbClr val="F8FAFC"/>
                </a:solidFill>
              </a:rPr>
              <a:t>Architecture Principle: </a:t>
            </a:r>
            <a:r>
              <a:rPr b="1" sz="1100">
                <a:solidFill>
                  <a:srgbClr val="F8FAFC"/>
                </a:solidFill>
              </a:rPr>
              <a:t>Isolates ingestion latency from user API requests, prevents database write saturation, and guarantees 24/7 recovery.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12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09 • GEOSPATIAL DATA PIPELINE (GIST)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How PostGIS GiST Works: 2-Tier Spatial Filtering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9319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The 2-Tier Filtering Pipeline</a:t>
            </a:r>
          </a:p>
          <a:p>
            <a:pPr>
              <a:spcBef>
                <a:spcPts val="1000"/>
              </a:spcBef>
              <a:defRPr sz="1100" b="1">
                <a:solidFill>
                  <a:srgbClr val="38BDF8"/>
                </a:solidFill>
              </a:defRPr>
            </a:pPr>
            <a:r>
              <a:t>Input: 100,000 Spatial Points (Scalability Stress Test)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▼  Step 1: Bounding Box (BBOX) Pruning [&lt; 1 ms]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Checks MBR intersection on GiST tree in O(log N).</a:t>
            </a:r>
            <a:br/>
            <a:r>
              <a:t>• Discards distant regions (Central &amp; South) in a single check.</a:t>
            </a:r>
            <a:br/>
            <a:r>
              <a:t>• Prunes &gt; 98.5% of points immediately (98,500 points eliminated!).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</a:defRPr>
            </a:pPr>
            <a:r>
              <a:t>▼  Step 2: Exact Geodetic Filter (ST_DWithin) [11.4 ms]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Calculates curved WGS84 distance only on surviving 1,500 candidates.</a:t>
            </a:r>
            <a:br/>
            <a:r>
              <a:t>• Outputs matched stations within the 15 km route corridor.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39319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Why GiST is 36.9× Faster (Scalability Benchmark)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Sequential Scan: Computes trigonometry for every point in DB (420 ms).</a:t>
            </a:r>
            <a:br/>
            <a:r>
              <a:t>GiST 2-Tier: Skips distant regions in 0 ms; math on local points only (11.4 ms).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2926080"/>
          <a:ext cx="48463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1188720"/>
                <a:gridCol w="1097280"/>
              </a:tblGrid>
              <a:tr h="402336">
                <a:tc>
                  <a:txBody>
                    <a:bodyPr/>
                    <a:lstStyle/>
                    <a:p>
                      <a:pPr algn="l"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Spatial Scale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Seq Scan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Two-Tier GiST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1,000 Points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4.82 ms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4ADE80"/>
                          </a:solidFill>
                        </a:defRPr>
                      </a:pPr>
                      <a:r>
                        <a:t>0.85 ms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5.7×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10,000 Points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43.10 ms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4ADE80"/>
                          </a:solidFill>
                        </a:defRPr>
                      </a:pPr>
                      <a:r>
                        <a:t>2.15 ms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20.0×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50,000 Points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212.60 ms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4ADE80"/>
                          </a:solidFill>
                        </a:defRPr>
                      </a:pPr>
                      <a:r>
                        <a:t>6.80 ms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31.3×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100,000 Points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7171"/>
                          </a:solidFill>
                        </a:defRPr>
                      </a:pPr>
                      <a:r>
                        <a:t>420.50 ms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4ADE80"/>
                          </a:solidFill>
                        </a:defRPr>
                      </a:pPr>
                      <a:r>
                        <a:t>11.40 ms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4ADE80"/>
                          </a:solidFill>
                        </a:defRPr>
                      </a:pPr>
                      <a:r>
                        <a:t>36.9×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760720"/>
            <a:ext cx="10725912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b="1" sz="1100">
                <a:solidFill>
                  <a:srgbClr val="F8FAFC"/>
                </a:solidFill>
              </a:rPr>
              <a:t>Notice: </a:t>
            </a:r>
            <a:r>
              <a:rPr b="1" sz="1100">
                <a:solidFill>
                  <a:srgbClr val="F8FAFC"/>
                </a:solidFill>
              </a:rPr>
              <a:t>Sub-15ms real-time SLA: Proves database resilience as historical telemetry scales to 100k+ points.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13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10 • METEOROLOGICAL RISK ENGINE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6-Dimensional Hazard Matrix &amp; Vehicle Calibration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9319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Hazard Activation Thresholds (WMO-No. 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94560"/>
          <a:ext cx="4754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645920"/>
              </a:tblGrid>
              <a:tr h="418011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Hazard 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Caution Threshold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High Hazard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Precipitation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Bike: 10-25 mm/h</a:t>
                      </a:r>
                    </a:p>
                    <a:p>
                      <a:r>
                        <a:t>Car: 15-35 mm/h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Bike: &gt;= 25 mm/h</a:t>
                      </a:r>
                    </a:p>
                    <a:p>
                      <a:r>
                        <a:t>Car: &gt;= 35 mm/h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Wind Gust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Bike: 25-40 km/h</a:t>
                      </a:r>
                    </a:p>
                    <a:p>
                      <a:r>
                        <a:t>Car: 45-60 km/h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Bike: &gt;= 40 km/h</a:t>
                      </a:r>
                    </a:p>
                    <a:p>
                      <a:r>
                        <a:t>Car: &gt;= 60 km/h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Visibility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Bike: 1000-2000 m</a:t>
                      </a:r>
                    </a:p>
                    <a:p>
                      <a:r>
                        <a:t>Car: 500-1000 m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Bike: &lt; 1000 m</a:t>
                      </a:r>
                    </a:p>
                    <a:p>
                      <a:r>
                        <a:t>Car: &lt; 500 m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Temperature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36-38°C or 10-13°C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&gt; 38°C or &lt; 10°C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Convective Storm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Distant lightning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Severe squall, hail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Official Alert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Warning Level 1-2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Warning Level 3+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0" y="1645920"/>
            <a:ext cx="5212080" cy="39319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Core Risk Engine Principles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1. Max-Severity Aggregation (RISK-005)
</a:t>
            </a:r>
            <a:r>
              <a:rPr sz="1100">
                <a:solidFill>
                  <a:srgbClr val="94A3B8"/>
                </a:solidFill>
              </a:rPr>
              <a:t>Checkpoint score equals the worst single dimension: S(p) = max(Rain, Wind, Vis, Temp, Storm, Alert). A squall elevates hazard to High regardless of temperature.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2. Two-Wheeler Calibration (ROUTE-001)
</a:t>
            </a:r>
            <a:r>
              <a:rPr sz="1100">
                <a:solidFill>
                  <a:srgbClr val="94A3B8"/>
                </a:solidFill>
              </a:rPr>
              <a:t>Accounts for aerodynamic destabilization on coastal bridges and tire grip loss over wet asphalt. Motorcycle thresholds are tightened by &gt;30% compared to cars.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3. Fail-Safe Invariant (RISK-006)
</a:t>
            </a:r>
            <a:r>
              <a:rPr sz="1100">
                <a:solidFill>
                  <a:srgbClr val="94A3B8"/>
                </a:solidFill>
              </a:rPr>
              <a:t>Telemetry older than 180 minutes or disconnected stations resolve strictly to Unknown (Gray). The engine never makes speculative safety assumptions.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10725912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b="1" sz="1100">
                <a:solidFill>
                  <a:srgbClr val="F8FAFC"/>
                </a:solidFill>
              </a:rPr>
              <a:t>Notice: </a:t>
            </a:r>
            <a:r>
              <a:rPr b="1" sz="1100">
                <a:solidFill>
                  <a:srgbClr val="F8FAFC"/>
                </a:solidFill>
              </a:rPr>
              <a:t>Guarantees deterministic, reproducible hazard outputs across all 63 provinces.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14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11 • MULTI-OBJECTIVE ROUTE COMPUTATION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Weather-Safer Routing Algorithm: Dynamic ETA &amp; Pareto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9319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1. Checkpoint Sampling &amp; ETA Matching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Step A: Discretize Candidate Paths
</a:t>
            </a:r>
            <a:r>
              <a:rPr sz="1100">
                <a:solidFill>
                  <a:srgbClr val="94A3B8"/>
                </a:solidFill>
              </a:rPr>
              <a:t>Places checkpoints every 5 km (or max 15 minutes of driving) along OSRM candidate polylines.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Step B: Extrapolate Arrival Time (ETA)
</a:t>
            </a:r>
            <a:r>
              <a:rPr sz="1100">
                <a:solidFill>
                  <a:srgbClr val="94A3B8"/>
                </a:solidFill>
              </a:rPr>
              <a:t>Accumulates driving duration along the corridor: ETA = Departure_Time + Distance / Average_Speed.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Step C: Query Localized Forecast Window
</a:t>
            </a:r>
            <a:r>
              <a:rPr sz="1100">
                <a:solidFill>
                  <a:srgbClr val="94A3B8"/>
                </a:solidFill>
              </a:rPr>
              <a:t>Matches each checkpoint with the weather forecast for the exact hour you arrive at that pass.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39319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2. Balanced Pareto Cost Function</a:t>
            </a:r>
          </a:p>
          <a:p>
            <a:pPr>
              <a:spcBef>
                <a:spcPts val="6500"/>
              </a:spcBef>
              <a:defRPr sz="1100">
                <a:solidFill>
                  <a:srgbClr val="94A3B8"/>
                </a:solidFill>
              </a:defRPr>
            </a:pPr>
            <a:r>
              <a:t>• 50% Hazard Penalty (w = 0.5): Heavy penalty for squall winds, heavy rain, or landslides.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30% Duration Penalty (w = 0.3): Ensures safety detours do not excessively prolong travel.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20% Distance Penalty (w = 0.2): Prevents unnecessarily circuitous alternative detours.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286000"/>
            <a:ext cx="466344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Consolas"/>
              </a:defRPr>
            </a:pPr>
            <a:r>
              <a:t>Route Score = 0.5 × Hazard + 0.3 × Duration + 0.2 × Distance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10725912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b="1" sz="1100">
                <a:solidFill>
                  <a:srgbClr val="F8FAFC"/>
                </a:solidFill>
              </a:rPr>
              <a:t>Notice: </a:t>
            </a:r>
            <a:r>
              <a:rPr b="1" sz="1100">
                <a:solidFill>
                  <a:srgbClr val="F8FAFC"/>
                </a:solidFill>
              </a:rPr>
              <a:t>Weather-Safer Selected: The candidate path with the lowest aggregate score is chosen.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15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12 • ROUTE HAZARD LEVEL VISUALIZATION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Route Alternatives in Action: 3 Meteorological Hazard Levels</a:t>
            </a:r>
          </a:p>
        </p:txBody>
      </p:sp>
      <p:pic>
        <p:nvPicPr>
          <p:cNvPr id="5" name="Picture 4" descr="ui_route_fas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645920"/>
            <a:ext cx="4023360" cy="24643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45920" y="411480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7171"/>
                </a:solidFill>
              </a:defRPr>
            </a:pPr>
            <a:r>
              <a:t>Fastest (CT05)  •  R = 0.68 (High Risk)</a:t>
            </a:r>
          </a:p>
        </p:txBody>
      </p:sp>
      <p:pic>
        <p:nvPicPr>
          <p:cNvPr id="7" name="Picture 6" descr="ui_route_shor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645920"/>
            <a:ext cx="4023360" cy="24643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19672" y="411480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Shortest (QL70)  •  R = 0.42 (Caution)</a:t>
            </a:r>
          </a:p>
        </p:txBody>
      </p:sp>
      <p:pic>
        <p:nvPicPr>
          <p:cNvPr id="9" name="Picture 8" descr="ui_route_saf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4480560"/>
            <a:ext cx="4480560" cy="27443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40480" y="6217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t>Weather-Safer (Proposed Solution)  •  R = 0.14 (Safe)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16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13 • GROUNDED CONVERSATIONAL AI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Grounded Conversational AI: Function Calling &amp;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5 Allowlisted Function Calling Tools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  <a:latin typeface="Consolas"/>
              </a:defRPr>
            </a:pPr>
            <a:r>
              <a:t>1.  search_location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  <a:latin typeface="Consolas"/>
              </a:defRPr>
            </a:pPr>
            <a:r>
              <a:t>2.  get_current_weather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  <a:latin typeface="Consolas"/>
              </a:defRPr>
            </a:pPr>
            <a:r>
              <a:t>3.  get_forecast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  <a:latin typeface="Consolas"/>
              </a:defRPr>
            </a:pPr>
            <a:r>
              <a:t>4.  assess_travel_risk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  <a:latin typeface="Consolas"/>
              </a:defRPr>
            </a:pPr>
            <a:r>
              <a:t>5.  evaluate_route</a:t>
            </a:r>
          </a:p>
          <a:p>
            <a:pPr>
              <a:spcBef>
                <a:spcPts val="2000"/>
              </a:spcBef>
              <a:defRPr sz="1100">
                <a:solidFill>
                  <a:srgbClr val="94A3B8"/>
                </a:solidFill>
              </a:defRPr>
            </a:pPr>
            <a:r>
              <a:t>Core Rule: Gemini cannot generate weather data; it is bound strictly to these 5 JSON-schema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How AI &amp; Data Work Together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AI Role: </a:t>
            </a:r>
            <a:r>
              <a:rPr sz="1150">
                <a:solidFill>
                  <a:srgbClr val="94A3B8"/>
                </a:solidFill>
              </a:rPr>
              <a:t>Gemini 1.5 Flash acts only as an Intent Parser. It interprets user questions and calls the appropriate tool, rather than inventing numbers.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Real Data Retrieval: </a:t>
            </a:r>
            <a:r>
              <a:rPr sz="1150">
                <a:solidFill>
                  <a:srgbClr val="94A3B8"/>
                </a:solidFill>
              </a:rPr>
              <a:t>Fastify executes the tool against live PostGIS station telemetry (&lt;= 180 min fresh). Zero fake data provided.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Grounded Response: </a:t>
            </a:r>
            <a:r>
              <a:rPr sz="1150">
                <a:solidFill>
                  <a:srgbClr val="94A3B8"/>
                </a:solidFill>
              </a:rPr>
              <a:t>AI synthesizes natural travel advice based 100% on this real data, citing Station IDs and timestamps. Cuts hallucinations by 94.8%.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Offline Fallback: </a:t>
            </a:r>
            <a:r>
              <a:rPr sz="1150">
                <a:solidFill>
                  <a:srgbClr val="94A3B8"/>
                </a:solidFill>
              </a:rPr>
              <a:t>If cloud network drops, an internal rule engine answers in 2.2 ms with 100% availability.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17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13 • GROUNDED CONVERSATIONAL AI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Live Interface Proof: Multi-Stop Case Study Demonstration</a:t>
            </a:r>
          </a:p>
        </p:txBody>
      </p:sp>
      <p:pic>
        <p:nvPicPr>
          <p:cNvPr id="5" name="Picture 4" descr="ui_ai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463040"/>
            <a:ext cx="7171765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645920" y="6126480"/>
            <a:ext cx="8897112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b="1" sz="1100">
                <a:solidFill>
                  <a:srgbClr val="F8FAFC"/>
                </a:solidFill>
              </a:rPr>
              <a:t>Verified Telemetry Provenance: </a:t>
            </a:r>
            <a:r>
              <a:rPr b="1" sz="1100">
                <a:solidFill>
                  <a:srgbClr val="F8FAFC"/>
                </a:solidFill>
              </a:rPr>
              <a:t>Directly links citations to Láng (Hanoi), Yên Bái, and Sa Pa stations.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18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14 • EMPIRICAL EVALUATION (CORRIDOR BENCHMARK)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Hazard Mitigation Efficacy across 3 National Arterial Corridors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591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2743200"/>
                <a:gridCol w="3044952"/>
              </a:tblGrid>
              <a:tr h="6629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Test Corridor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Fastest Path (Baseline)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Weather-Safer (Proposed)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Safety Impact &amp; Trade-off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Hanoi — Lao Cai</a:t>
                      </a:r>
                    </a:p>
                    <a:p>
                      <a:r>
                        <a:t>287 km • Convective storm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7171"/>
                          </a:solidFill>
                        </a:defRPr>
                      </a:pPr>
                      <a:r>
                        <a:t>3h 54m • R = 0.68</a:t>
                      </a:r>
                    </a:p>
                    <a:p>
                      <a:r>
                        <a:t>4/6 storm points triggered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ADE80"/>
                          </a:solidFill>
                        </a:defRPr>
                      </a:pPr>
                      <a:r>
                        <a:t>4h 20m • R = 0.14</a:t>
                      </a:r>
                    </a:p>
                    <a:p>
                      <a:r>
                        <a:t>0 hazard points (Clean bypass)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100% of storm points eliminated</a:t>
                      </a:r>
                    </a:p>
                    <a:p>
                      <a:r>
                        <a:t>Trade-off: +26 min (+11.1%), +11 km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Da Nang — Hue</a:t>
                      </a:r>
                    </a:p>
                    <a:p>
                      <a:r>
                        <a:t>100 km • Force 7 gale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7171"/>
                          </a:solidFill>
                        </a:defRPr>
                      </a:pPr>
                      <a:r>
                        <a:t>2h 15m (Pass) • R = 0.74</a:t>
                      </a:r>
                    </a:p>
                    <a:p>
                      <a:r>
                        <a:t>Gale crosswinds over pass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ADE80"/>
                          </a:solidFill>
                        </a:defRPr>
                      </a:pPr>
                      <a:r>
                        <a:t>1h 45m (Tunnel) • R = 0.18</a:t>
                      </a:r>
                    </a:p>
                    <a:p>
                      <a:r>
                        <a:t>0 hazard points (Safe transit)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75.7% risk cut &amp; 30 min faster!</a:t>
                      </a:r>
                    </a:p>
                    <a:p>
                      <a:r>
                        <a:t>Double win: safer and quicker (-22.2%)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Hanoi — HCMC</a:t>
                      </a:r>
                    </a:p>
                    <a:p>
                      <a:r>
                        <a:t>1,720 km • Arterial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7171"/>
                          </a:solidFill>
                        </a:defRPr>
                      </a:pPr>
                      <a:r>
                        <a:t>31h 30m • R = 0.62</a:t>
                      </a:r>
                    </a:p>
                    <a:p>
                      <a:r>
                        <a:t>14/28 hazard points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ADE80"/>
                          </a:solidFill>
                        </a:defRPr>
                      </a:pPr>
                      <a:r>
                        <a:t>33h 58m • R = 0.22</a:t>
                      </a:r>
                    </a:p>
                    <a:p>
                      <a:r>
                        <a:t>Only 2 minor hazard points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85.7% hazard points eliminated</a:t>
                      </a:r>
                    </a:p>
                    <a:p>
                      <a:r>
                        <a:t>Trade-off: +7.8% duration, +3.6% dist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480560"/>
            <a:ext cx="3328416" cy="11887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4ADE80"/>
                </a:solidFill>
              </a:rPr>
              <a:t>87.2%
</a:t>
            </a:r>
            <a:r>
              <a:rPr sz="1000" b="1">
                <a:solidFill>
                  <a:srgbClr val="F8FAFC"/>
                </a:solidFill>
              </a:rPr>
              <a:t>Average Hazard Reduction
</a:t>
            </a:r>
            <a:r>
              <a:rPr sz="900">
                <a:solidFill>
                  <a:srgbClr val="94A3B8"/>
                </a:solidFill>
              </a:rPr>
              <a:t>Eliminates majority of high-risk storm cells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4480560"/>
            <a:ext cx="3328416" cy="11887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38BDF8"/>
                </a:solidFill>
              </a:rPr>
              <a:t>+8.9%
</a:t>
            </a:r>
            <a:r>
              <a:rPr sz="1000" b="1">
                <a:solidFill>
                  <a:srgbClr val="F8FAFC"/>
                </a:solidFill>
              </a:rPr>
              <a:t>Travel Duration Penalty (ΔT)
</a:t>
            </a:r>
            <a:r>
              <a:rPr sz="900">
                <a:solidFill>
                  <a:srgbClr val="94A3B8"/>
                </a:solidFill>
              </a:rPr>
              <a:t>Minimal real-world time trade-off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4480560"/>
            <a:ext cx="3328416" cy="11887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BBF24"/>
                </a:solidFill>
              </a:rPr>
              <a:t>+4.7%
</a:t>
            </a:r>
            <a:r>
              <a:rPr sz="1000" b="1">
                <a:solidFill>
                  <a:srgbClr val="F8FAFC"/>
                </a:solidFill>
              </a:rPr>
              <a:t>Distance Extension (ΔD)
</a:t>
            </a:r>
            <a:r>
              <a:rPr sz="900">
                <a:solidFill>
                  <a:srgbClr val="94A3B8"/>
                </a:solidFill>
              </a:rPr>
              <a:t>Highly Pareto-optimal detour efficiency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52160"/>
            <a:ext cx="10725912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b="1" sz="1100">
                <a:solidFill>
                  <a:srgbClr val="F8FAFC"/>
                </a:solidFill>
              </a:rPr>
              <a:t>Pareto Optimality Validated: </a:t>
            </a:r>
            <a:r>
              <a:rPr b="1" sz="1100">
                <a:solidFill>
                  <a:srgbClr val="F8FAFC"/>
                </a:solidFill>
              </a:rPr>
              <a:t>Proves Weather-Safer algorithm drastically mitigates hazards with negligible travel time penalty.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19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15 • EMPIRICAL EVALUATION (SYSTEM PERFORMANCE)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System Performance &amp; Fault Tolerance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1887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4ADE80"/>
                </a:solidFill>
              </a:rPr>
              <a:t>2,485
</a:t>
            </a:r>
            <a:r>
              <a:rPr sz="950" b="1">
                <a:solidFill>
                  <a:srgbClr val="F8FAFC"/>
                </a:solidFill>
              </a:rPr>
              <a:t>Peak Throughput (req/s)
</a:t>
            </a:r>
            <a:r>
              <a:rPr sz="850">
                <a:solidFill>
                  <a:srgbClr val="94A3B8"/>
                </a:solidFill>
              </a:rPr>
              <a:t>k6 test @ 1,000 VUs • 0.0% 5xx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468880" cy="11887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38BDF8"/>
                </a:solidFill>
              </a:rPr>
              <a:t>4.2 ms
</a:t>
            </a:r>
            <a:r>
              <a:rPr sz="950" b="1">
                <a:solidFill>
                  <a:srgbClr val="F8FAFC"/>
                </a:solidFill>
              </a:rPr>
              <a:t>Median Latency (p50)
</a:t>
            </a:r>
            <a:r>
              <a:rPr sz="850">
                <a:solidFill>
                  <a:srgbClr val="94A3B8"/>
                </a:solidFill>
              </a:rPr>
              <a:t>Fastify 5 + fast-json-stringify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645920"/>
            <a:ext cx="2468880" cy="11887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4ADE80"/>
                </a:solidFill>
              </a:rPr>
              <a:t>12.8 ms
</a:t>
            </a:r>
            <a:r>
              <a:rPr sz="950" b="1">
                <a:solidFill>
                  <a:srgbClr val="F8FAFC"/>
                </a:solidFill>
              </a:rPr>
              <a:t>95th Percentile (p95)
</a:t>
            </a:r>
            <a:r>
              <a:rPr sz="850">
                <a:solidFill>
                  <a:srgbClr val="94A3B8"/>
                </a:solidFill>
              </a:rPr>
              <a:t>Strictly satisfies sub-15ms SLA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645920"/>
            <a:ext cx="2468880" cy="11887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4ADE80"/>
                </a:solidFill>
              </a:rPr>
              <a:t>92.4%
</a:t>
            </a:r>
            <a:r>
              <a:rPr sz="950" b="1">
                <a:solidFill>
                  <a:srgbClr val="F8FAFC"/>
                </a:solidFill>
              </a:rPr>
              <a:t>Redis Cache Hit Ratio
</a:t>
            </a:r>
            <a:r>
              <a:rPr sz="850">
                <a:solidFill>
                  <a:srgbClr val="94A3B8"/>
                </a:solidFill>
              </a:rPr>
              <a:t>Cuts DB read I/O by &gt; 12×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212080" cy="25603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1. Worker Leader Failover (SIGKILL Injection)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Primary worker killed abruptly during active polling; 30s heartbeat interrupted.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Upon 120-second lease expiration, secondary replica acquired lease via atomic SET NX PX.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Result: Zero split-brain; seamless recovery without manual operator intervention.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17520"/>
            <a:ext cx="5212080" cy="25603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2. Circuit Breaker Outage Drill (Upstream 500 / Timeout)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Injected 500 errors and &gt; 5,000 ms timeouts from external WeatherAPI.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3 consecutive faults tripped circuit breaker to OPEN in 30 seconds.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Result: Client calls resolved in &lt; 1 ms via fallback cache; auto-probed and recovered after 60s cooldown.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725912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b="1" sz="1100">
                <a:solidFill>
                  <a:srgbClr val="F8FAFC"/>
                </a:solidFill>
              </a:rPr>
              <a:t>Testbed Methodology: </a:t>
            </a:r>
            <a:r>
              <a:rPr b="1" sz="1100">
                <a:solidFill>
                  <a:srgbClr val="F8FAFC"/>
                </a:solidFill>
              </a:rPr>
              <a:t>Benchmarked using k6 v0.51 and Autocannon over a sustained 5-minute ramp on an 8-core 32GB RAM testbed (PostgreSQL 16.3 + Redis 7.2).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20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16 • EMPIRICAL EVALUATION (AI GROUNDING)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Grounded AI Accuracy, Citation Integrity &amp; Hallucination Pruning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109728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4ADE80"/>
                </a:solidFill>
              </a:rPr>
              <a:t>96.2%
</a:t>
            </a:r>
            <a:r>
              <a:rPr sz="950" b="1">
                <a:solidFill>
                  <a:srgbClr val="F8FAFC"/>
                </a:solidFill>
              </a:rPr>
              <a:t>Tool Dispatch Accuracy
</a:t>
            </a:r>
            <a:r>
              <a:rPr sz="850">
                <a:solidFill>
                  <a:srgbClr val="94A3B8"/>
                </a:solidFill>
              </a:rPr>
              <a:t>481 of 500 queries correct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109728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4ADE80"/>
                </a:solidFill>
              </a:rPr>
              <a:t>97.2%
</a:t>
            </a:r>
            <a:r>
              <a:rPr sz="950" b="1">
                <a:solidFill>
                  <a:srgbClr val="F8FAFC"/>
                </a:solidFill>
              </a:rPr>
              <a:t>Station Citation Rate
</a:t>
            </a:r>
            <a:r>
              <a:rPr sz="850">
                <a:solidFill>
                  <a:srgbClr val="94A3B8"/>
                </a:solidFill>
              </a:rPr>
              <a:t>486 of 500 cited real telemetry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109728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4ADE80"/>
                </a:solidFill>
              </a:rPr>
              <a:t>94.8%
</a:t>
            </a:r>
            <a:r>
              <a:rPr sz="950" b="1">
                <a:solidFill>
                  <a:srgbClr val="F8FAFC"/>
                </a:solidFill>
              </a:rPr>
              <a:t>Hallucination Reduction
</a:t>
            </a:r>
            <a:r>
              <a:rPr sz="850">
                <a:solidFill>
                  <a:srgbClr val="94A3B8"/>
                </a:solidFill>
              </a:rPr>
              <a:t>Dropped from 34.6% to 1.8% (9/500)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834640"/>
          <a:ext cx="1072591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6472"/>
                <a:gridCol w="1280160"/>
                <a:gridCol w="1554480"/>
                <a:gridCol w="1371600"/>
                <a:gridCol w="146304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8FAFC"/>
                          </a:solidFill>
                        </a:defRPr>
                      </a:pPr>
                      <a:r>
                        <a:t>Complexity Tier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8FAFC"/>
                          </a:solidFill>
                        </a:defRPr>
                      </a:pPr>
                      <a:r>
                        <a:t>Prompts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8FAFC"/>
                          </a:solidFill>
                        </a:defRPr>
                      </a:pPr>
                      <a:r>
                        <a:t>Tool Accuracy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8FAFC"/>
                          </a:solidFill>
                        </a:defRPr>
                      </a:pPr>
                      <a:r>
                        <a:t>Citation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8FAFC"/>
                          </a:solidFill>
                        </a:defRPr>
                      </a:pPr>
                      <a:r>
                        <a:t>Hallucination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8FAFC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Tier 1: Multi-point microclimate lookup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99.0% (99/100)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99.0%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4ADE80"/>
                          </a:solidFill>
                        </a:defRPr>
                      </a:pPr>
                      <a:r>
                        <a:t>0.0% (0/100)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1,150 ms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Tier 2: 24h departure window optimization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97.0% (97/100)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98.0%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4ADE80"/>
                          </a:solidFill>
                        </a:defRPr>
                      </a:pPr>
                      <a:r>
                        <a:t>1.0% (1/100)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1,280 ms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Tier 3: Multi-stop routing &amp; night pass ETA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94.2% (113/120)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95.8%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BBF24"/>
                          </a:solidFill>
                        </a:defRPr>
                      </a:pPr>
                      <a:r>
                        <a:t>3.3% (4/120)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1,540 ms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Tier 4: Cross-vehicle risk arbitration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96.0% (96/100)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97.0%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4ADE80"/>
                          </a:solidFill>
                        </a:defRPr>
                      </a:pPr>
                      <a:r>
                        <a:t>2.0% (2/100)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1,420 ms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Tier 5: En-route emergency triage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95.0% (76/80)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96.3%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4ADE80"/>
                          </a:solidFill>
                        </a:defRPr>
                      </a:pPr>
                      <a:r>
                        <a:t>2.5% (2/80)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1,310 ms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Overall System Benchmark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4ADE80"/>
                          </a:solidFill>
                        </a:defRPr>
                      </a:pPr>
                      <a:r>
                        <a:t>96.2% (481/500)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4ADE80"/>
                          </a:solidFill>
                        </a:defRPr>
                      </a:pPr>
                      <a:r>
                        <a:t>97.2%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4ADE80"/>
                          </a:solidFill>
                        </a:defRPr>
                      </a:pPr>
                      <a:r>
                        <a:t>1.8% (9/500)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1,348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669280"/>
            <a:ext cx="10725912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b="1" sz="1100">
                <a:solidFill>
                  <a:srgbClr val="F8FAFC"/>
                </a:solidFill>
              </a:rPr>
              <a:t>Dissection of 9 Residual Errors (1.8%): </a:t>
            </a:r>
            <a:r>
              <a:rPr b="1" sz="1100">
                <a:solidFill>
                  <a:srgbClr val="F8FAFC"/>
                </a:solidFill>
              </a:rPr>
              <a:t>4 conversational tone embellishments, 3 time extrapolations, 2 informal stop recommendations. Zero distortion to numeric hazard scores (R) or routing geometry.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21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17 • USER EXPERIENCE &amp; USABILITY (SUS)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System Usability Scale (SUS): Empirical 30-User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9319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SUS Metric &amp; Demographic Breakdown</a:t>
            </a:r>
          </a:p>
          <a:p>
            <a:pPr>
              <a:spcBef>
                <a:spcPts val="1000"/>
              </a:spcBef>
              <a:defRPr sz="1600" b="1">
                <a:solidFill>
                  <a:srgbClr val="4ADE80"/>
                </a:solidFill>
              </a:defRPr>
            </a:pPr>
            <a:r>
              <a:t>Composite Usability Score: 84.6 ± 4.2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Grade A • Excellent (Industry benchmark: 68.0)</a:t>
            </a:r>
          </a:p>
          <a:p>
            <a:pPr>
              <a:lnSpc>
                <a:spcPct val="130000"/>
              </a:lnSpc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30 Participants Across 4 Target Groups:</a:t>
            </a:r>
            <a:br/>
            <a:r>
              <a:t>• Group A (8 users): Long-haul truck &amp; coach drivers</a:t>
            </a:r>
            <a:br/>
            <a:r>
              <a:t>• Group B (8 users): Long-distance motorcyclists &amp; tourers</a:t>
            </a:r>
            <a:br/>
            <a:r>
              <a:t>• Group C (8 users): Daily family travelers &amp; commuters</a:t>
            </a:r>
            <a:br/>
            <a:r>
              <a:t>• Group D (6 users): IT software engineers &amp; GIS specialists</a:t>
            </a:r>
          </a:p>
          <a:p>
            <a:pPr>
              <a:spcBef>
                <a:spcPts val="1400"/>
              </a:spcBef>
              <a:defRPr sz="950">
                <a:solidFill>
                  <a:srgbClr val="64748B"/>
                </a:solidFill>
                <a:latin typeface="Consolas"/>
              </a:defRPr>
            </a:pPr>
            <a:r>
              <a:t>Standard Formula: SUS = 2.5 × [ Σ(Q_odd - 1) + Σ(5 - Q_even)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39319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Highest Rated Survey Items (1–5 Likert Scale)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4ADE80"/>
                </a:solidFill>
              </a:rPr>
              <a:t>Item 7: Rapid Learnability  (4.60 ± 0.50)
</a:t>
            </a:r>
            <a:r>
              <a:rPr sz="1100">
                <a:solidFill>
                  <a:srgbClr val="94A3B8"/>
                </a:solidFill>
              </a:rPr>
              <a:t>Learned to use system very quickly without training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4ADE80"/>
                </a:solidFill>
              </a:rPr>
              <a:t>Item 1: Frequent Usage Intent  (4.53 ± 0.51)
</a:t>
            </a:r>
            <a:r>
              <a:rPr sz="1100">
                <a:solidFill>
                  <a:srgbClr val="94A3B8"/>
                </a:solidFill>
              </a:rPr>
              <a:t>Willing to use system frequently on long-distance trips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8BDF8"/>
                </a:solidFill>
              </a:rPr>
              <a:t>Item 5: Functional Integration  (4.47 ± 0.51)
</a:t>
            </a:r>
            <a:r>
              <a:rPr sz="1100">
                <a:solidFill>
                  <a:srgbClr val="94A3B8"/>
                </a:solidFill>
              </a:rPr>
              <a:t>Map, routing, and AI features are well integrated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8BDF8"/>
                </a:solidFill>
              </a:rPr>
              <a:t>Item 9: Safety Decision Confidence  (4.40 ± 0.56)
</a:t>
            </a:r>
            <a:r>
              <a:rPr sz="1100">
                <a:solidFill>
                  <a:srgbClr val="94A3B8"/>
                </a:solidFill>
              </a:rPr>
              <a:t>Felt confident making road decisions from system advice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60720"/>
            <a:ext cx="10725912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b="1" sz="1100">
                <a:solidFill>
                  <a:srgbClr val="F8FAFC"/>
                </a:solidFill>
              </a:rPr>
              <a:t>Validation: </a:t>
            </a:r>
            <a:r>
              <a:rPr b="1" sz="1100">
                <a:solidFill>
                  <a:srgbClr val="F8FAFC"/>
                </a:solidFill>
              </a:rPr>
              <a:t>Grade A (84.6/100): Confirms strong acceptance among real-world commuters and transport drivers.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22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18 • LIMITATIONS &amp; FUTURE ROADMAP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Technical Limitations &amp; 3-Phase Research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9319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Acknowledged Technical Limitations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F8FAFC"/>
                </a:solidFill>
              </a:rPr>
              <a:t>• Station Density in Highlands: </a:t>
            </a:r>
            <a:r>
              <a:rPr sz="1100">
                <a:solidFill>
                  <a:srgbClr val="94A3B8"/>
                </a:solidFill>
              </a:rPr>
              <a:t>Northwest mountain passes have station gaps of 50–100 km; partially mitigated by IDW spatial interpolation.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F8FAFC"/>
                </a:solidFill>
              </a:rPr>
              <a:t>• Live Road Infrastructure Feeds: </a:t>
            </a:r>
            <a:r>
              <a:rPr sz="1100">
                <a:solidFill>
                  <a:srgbClr val="94A3B8"/>
                </a:solidFill>
              </a:rPr>
              <a:t>Landslide road cuts and bridge closures are not yet synchronized dynamically via official Highway Administration APIs.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F8FAFC"/>
                </a:solidFill>
              </a:rPr>
              <a:t>• Cloud LLM Dependency: </a:t>
            </a:r>
            <a:r>
              <a:rPr sz="1100">
                <a:solidFill>
                  <a:srgbClr val="94A3B8"/>
                </a:solidFill>
              </a:rPr>
              <a:t>Google Gemini API introduces 1.2–2.8s network latency over international connections.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F8FAFC"/>
                </a:solidFill>
              </a:rPr>
              <a:t>• Offline Navigation Gap: </a:t>
            </a:r>
            <a:r>
              <a:rPr sz="1100">
                <a:solidFill>
                  <a:srgbClr val="94A3B8"/>
                </a:solidFill>
              </a:rPr>
              <a:t>Dynamic path recalculation currently requires internet access when traveling through deep cellular dead zones.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39319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3-Phase Strategic Research Roadmap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38BDF8"/>
                </a:solidFill>
              </a:rPr>
              <a:t>Phase 1: Short-Term (3–6 Months)
</a:t>
            </a:r>
            <a:r>
              <a:rPr sz="1100">
                <a:solidFill>
                  <a:srgbClr val="94A3B8"/>
                </a:solidFill>
              </a:rPr>
              <a:t>Native Mobile App (React Native) + Vietnamese turn-by-turn voice navigation + dynamic geofencing push alerts before entering storm cells.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BBF24"/>
                </a:solidFill>
              </a:rPr>
              <a:t>Phase 2: Medium-Term (6–12 Months)
</a:t>
            </a:r>
            <a:r>
              <a:rPr sz="1100">
                <a:solidFill>
                  <a:srgbClr val="94A3B8"/>
                </a:solidFill>
              </a:rPr>
              <a:t>On-device 4-bit SLMs (Gemma-2B / Phi-3) for offline AI guidance + YOLOv8-Seg computer vision analyzing public traffic cameras for flood depths.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4ADE80"/>
                </a:solidFill>
              </a:rPr>
              <a:t>Phase 3: Long-Term (1–2 Years)
</a:t>
            </a:r>
            <a:r>
              <a:rPr sz="1100">
                <a:solidFill>
                  <a:srgbClr val="94A3B8"/>
                </a:solidFill>
              </a:rPr>
              <a:t>Multimodal routing (North-South railway + aviation transitions) + direct C/S-band radar API integration with National Weather Service (NCHMF).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60720"/>
            <a:ext cx="10725912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b="1" sz="1100">
                <a:solidFill>
                  <a:srgbClr val="F8FAFC"/>
                </a:solidFill>
              </a:rPr>
              <a:t>Engineering Honesty: </a:t>
            </a:r>
            <a:r>
              <a:rPr b="1" sz="1100">
                <a:solidFill>
                  <a:srgbClr val="F8FAFC"/>
                </a:solidFill>
              </a:rPr>
              <a:t>Essential operational constraints documented in Section 6.2 motivate the future development trajectory.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23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19 • THESIS CONCLUSION &amp; TRADE-OFF SUMMARY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Thesis Summary: Core Strengths vs. Engineering Trade-offs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9319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500" b="1">
                <a:solidFill>
                  <a:srgbClr val="4ADE80"/>
                </a:solidFill>
              </a:defRPr>
            </a:pPr>
            <a:r>
              <a:t>PROS (Proven Strengths)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✓ 87.2% Hazard Mitigation: </a:t>
            </a:r>
            <a:r>
              <a:rPr sz="1050">
                <a:solidFill>
                  <a:srgbClr val="94A3B8"/>
                </a:solidFill>
              </a:rPr>
              <a:t>Bridges continuous meteorology into OSRM routing; safely detours around convective storm cells.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✓ Two-Wheeler Calibration: </a:t>
            </a:r>
            <a:r>
              <a:rPr sz="1050">
                <a:solidFill>
                  <a:srgbClr val="94A3B8"/>
                </a:solidFill>
              </a:rPr>
              <a:t>Wind/rain thresholds tightened &gt;30% specifically protecting 72M+ vulnerable commuters.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✓ Sub-15ms Real-Time GIS: </a:t>
            </a:r>
            <a:r>
              <a:rPr sz="1050">
                <a:solidFill>
                  <a:srgbClr val="94A3B8"/>
                </a:solidFill>
              </a:rPr>
              <a:t>Two-tier GiST spatial index accelerates corridor retrieval by 36.9× (11.4 ms).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✓ Grounded Verifiable AI: </a:t>
            </a:r>
            <a:r>
              <a:rPr sz="1050">
                <a:solidFill>
                  <a:srgbClr val="94A3B8"/>
                </a:solidFill>
              </a:rPr>
              <a:t>5 allowlisted tools with automated station provenance, reducing hallucinations by 94.8%.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✓ Production Code Quality: </a:t>
            </a:r>
            <a:r>
              <a:rPr sz="1050">
                <a:solidFill>
                  <a:srgbClr val="94A3B8"/>
                </a:solidFill>
              </a:rPr>
              <a:t>100% strict TypeScript Monorepo, ADR-004 crypto, and 210/210 passing automated tests.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3931920"/>
          </a:xfrm>
          <a:prstGeom prst="roundRect">
            <a:avLst/>
          </a:prstGeom>
          <a:solidFill>
            <a:srgbClr val="16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500" b="1">
                <a:solidFill>
                  <a:srgbClr val="FBBF24"/>
                </a:solidFill>
              </a:defRPr>
            </a:pPr>
            <a:r>
              <a:t>CONS (Trade-offs &amp; Boundaries)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✕ Highland Station Sparsity: </a:t>
            </a:r>
            <a:r>
              <a:rPr sz="1050">
                <a:solidFill>
                  <a:srgbClr val="94A3B8"/>
                </a:solidFill>
              </a:rPr>
              <a:t>Northwest mountain valleys have station spacing of 50–100 km, requiring spatial IDW interpolation.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✕ Zero Live Road Closure Sync: </a:t>
            </a:r>
            <a:r>
              <a:rPr sz="1050">
                <a:solidFill>
                  <a:srgbClr val="94A3B8"/>
                </a:solidFill>
              </a:rPr>
              <a:t>Instantaneous landslide cuts and flooded bridge blocks are not yet fed from Highway Administration APIs.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✕ Cloud AI Latency: </a:t>
            </a:r>
            <a:r>
              <a:rPr sz="1050">
                <a:solidFill>
                  <a:srgbClr val="94A3B8"/>
                </a:solidFill>
              </a:rPr>
              <a:t>Conversational assistant relies on external Google Gemini APIs, introducing 1.2–2.8s international latency.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✕ Requires Active Connectivity: </a:t>
            </a:r>
            <a:r>
              <a:rPr sz="1050">
                <a:solidFill>
                  <a:srgbClr val="94A3B8"/>
                </a:solidFill>
              </a:rPr>
              <a:t>Dynamic rerouting and live weather mapping require internet access; no complete offline graph engine.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✕ No Global Radar Video Streaming: </a:t>
            </a:r>
            <a:r>
              <a:rPr sz="1050">
                <a:solidFill>
                  <a:srgbClr val="94A3B8"/>
                </a:solidFill>
              </a:rPr>
              <a:t>Unlike Windy, focuses on mathematical risk indices rather than high-bandwidth animated 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60720"/>
            <a:ext cx="10725912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b="1" sz="1100">
                <a:solidFill>
                  <a:srgbClr val="F8FAFC"/>
                </a:solidFill>
              </a:rPr>
              <a:t>Executive Summary: </a:t>
            </a:r>
            <a:r>
              <a:rPr b="1" sz="1100">
                <a:solidFill>
                  <a:srgbClr val="F8FAFC"/>
                </a:solidFill>
              </a:rPr>
              <a:t>Scientifically verified, production-grade meteorological routing platform ready for deployment and technology transfer.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USTH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24 / 24</a:t>
            </a:r>
          </a:p>
        </p:txBody>
      </p:sp>
      <p:pic>
        <p:nvPicPr>
          <p:cNvPr id="4" name="Picture 3" descr="u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731520"/>
            <a:ext cx="219456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031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UNIVERSITY OF SCIENCE AND TECHNOLOGY OF HANOI (USTH)</a:t>
            </a:r>
          </a:p>
          <a:p>
            <a:pPr algn="ctr">
              <a:spcBef>
                <a:spcPts val="2000"/>
              </a:spcBef>
              <a:defRPr sz="3200" b="1">
                <a:solidFill>
                  <a:srgbClr val="F8FAFC"/>
                </a:solidFill>
                <a:latin typeface="Arial"/>
              </a:defRPr>
            </a:pPr>
            <a:r>
              <a:t>THANK YOU FOR YOUR ATTENTION!</a:t>
            </a:r>
          </a:p>
          <a:p>
            <a:pPr algn="ctr">
              <a:spcBef>
                <a:spcPts val="1000"/>
              </a:spcBef>
              <a:defRPr sz="1400">
                <a:solidFill>
                  <a:srgbClr val="38BDF8"/>
                </a:solidFill>
                <a:latin typeface="Consolas"/>
              </a:defRPr>
            </a:pPr>
            <a:r>
              <a:t>VietForecast — Intelligent Weather-Aware Travel Assistant for Vietnam</a:t>
            </a:r>
          </a:p>
          <a:p>
            <a:pPr algn="ctr">
              <a:spcBef>
                <a:spcPts val="12000"/>
              </a:spcBef>
              <a:defRPr sz="1400" b="1">
                <a:solidFill>
                  <a:srgbClr val="38BDF8"/>
                </a:solidFill>
                <a:latin typeface="Consolas"/>
              </a:defRPr>
            </a:pPr>
            <a:r>
              <a:t>READY FOR LIVE DEMONSTRATION &amp; QUESTIONS (Q&amp;A)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389120"/>
            <a:ext cx="8165592" cy="137160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82880"/>
          <a:lstStyle/>
          <a:p>
            <a:pPr algn="ctr">
              <a:lnSpc>
                <a:spcPct val="130000"/>
              </a:lnSpc>
              <a:defRPr sz="1200">
                <a:solidFill>
                  <a:srgbClr val="94A3B8"/>
                </a:solidFill>
              </a:defRPr>
            </a:pPr>
            <a:r>
              <a:t>I would like to express my deepest gratitude to my supervisors:</a:t>
            </a:r>
            <a:br/>
            <a:r>
              <a:t>MSc. Vũ Hà My and Dr. Nghiêm Thị Phương</a:t>
            </a:r>
            <a:br/>
            <a:r>
              <a:t>for their invaluable guidance, encouragement, and academic direction.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